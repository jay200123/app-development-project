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725" autoAdjust="0"/>
  </p:normalViewPr>
  <p:slideViewPr>
    <p:cSldViewPr snapToGrid="0">
      <p:cViewPr varScale="1">
        <p:scale>
          <a:sx n="57" d="100"/>
          <a:sy n="57" d="100"/>
        </p:scale>
        <p:origin x="107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B22D85-76CD-4146-BFE9-19FFD532FCC9}" type="datetimeFigureOut">
              <a:rPr lang="en-US" smtClean="0"/>
              <a:t>7/24/2023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6D55F3-CE0C-CA44-8484-3B0215B08FF4}" type="slidenum">
              <a:rPr lang="en-US" smtClean="0"/>
              <a:t>‹#›</a:t>
            </a:fld>
            <a:endParaRPr lang="en-US"/>
          </a:p>
        </p:txBody>
      </p:sp>
    </p:spTree>
    <p:extLst>
      <p:ext uri="{BB962C8B-B14F-4D97-AF65-F5344CB8AC3E}">
        <p14:creationId xmlns:p14="http://schemas.microsoft.com/office/powerpoint/2010/main" val="2789244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nationalgeographic.com/environment/article/deforestation/"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Bullets 1 and 2</a:t>
            </a:r>
          </a:p>
          <a:p>
            <a:r>
              <a:rPr lang="en-US" dirty="0"/>
              <a:t>It is the obligation of the decision makers to take actions which protect and improve the welfare of the society as a whole along with their own interest. </a:t>
            </a:r>
          </a:p>
        </p:txBody>
      </p:sp>
      <p:sp>
        <p:nvSpPr>
          <p:cNvPr id="4" name="Slide Number Placeholder 3"/>
          <p:cNvSpPr>
            <a:spLocks noGrp="1"/>
          </p:cNvSpPr>
          <p:nvPr>
            <p:ph type="sldNum" sz="quarter" idx="5"/>
          </p:nvPr>
        </p:nvSpPr>
        <p:spPr/>
        <p:txBody>
          <a:bodyPr/>
          <a:lstStyle/>
          <a:p>
            <a:fld id="{B36D55F3-CE0C-CA44-8484-3B0215B08FF4}" type="slidenum">
              <a:rPr lang="en-US" smtClean="0"/>
              <a:t>2</a:t>
            </a:fld>
            <a:endParaRPr lang="en-US"/>
          </a:p>
        </p:txBody>
      </p:sp>
    </p:spTree>
    <p:extLst>
      <p:ext uri="{BB962C8B-B14F-4D97-AF65-F5344CB8AC3E}">
        <p14:creationId xmlns:p14="http://schemas.microsoft.com/office/powerpoint/2010/main" val="151513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6D55F3-CE0C-CA44-8484-3B0215B08FF4}" type="slidenum">
              <a:rPr lang="en-US" smtClean="0"/>
              <a:t>3</a:t>
            </a:fld>
            <a:endParaRPr lang="en-US"/>
          </a:p>
        </p:txBody>
      </p:sp>
    </p:spTree>
    <p:extLst>
      <p:ext uri="{BB962C8B-B14F-4D97-AF65-F5344CB8AC3E}">
        <p14:creationId xmlns:p14="http://schemas.microsoft.com/office/powerpoint/2010/main" val="3726161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Behaviors and activities that are expected or prohibited by organizational members, the community, and society (not codified into law)</a:t>
            </a:r>
          </a:p>
          <a:p>
            <a:endParaRPr lang="en-US" dirty="0"/>
          </a:p>
          <a:p>
            <a:r>
              <a:rPr lang="en-US" dirty="0"/>
              <a:t>Standards, norms or expectations that are reflect the concern of major stakeholders.</a:t>
            </a:r>
          </a:p>
        </p:txBody>
      </p:sp>
      <p:sp>
        <p:nvSpPr>
          <p:cNvPr id="4" name="Slide Number Placeholder 3"/>
          <p:cNvSpPr>
            <a:spLocks noGrp="1"/>
          </p:cNvSpPr>
          <p:nvPr>
            <p:ph type="sldNum" sz="quarter" idx="5"/>
          </p:nvPr>
        </p:nvSpPr>
        <p:spPr/>
        <p:txBody>
          <a:bodyPr/>
          <a:lstStyle/>
          <a:p>
            <a:fld id="{B36D55F3-CE0C-CA44-8484-3B0215B08FF4}" type="slidenum">
              <a:rPr lang="en-US" smtClean="0"/>
              <a:t>5</a:t>
            </a:fld>
            <a:endParaRPr lang="en-US"/>
          </a:p>
        </p:txBody>
      </p:sp>
    </p:spTree>
    <p:extLst>
      <p:ext uri="{BB962C8B-B14F-4D97-AF65-F5344CB8AC3E}">
        <p14:creationId xmlns:p14="http://schemas.microsoft.com/office/powerpoint/2010/main" val="3056328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6D55F3-CE0C-CA44-8484-3B0215B08FF4}" type="slidenum">
              <a:rPr lang="en-US" smtClean="0"/>
              <a:t>6</a:t>
            </a:fld>
            <a:endParaRPr lang="en-US"/>
          </a:p>
        </p:txBody>
      </p:sp>
    </p:spTree>
    <p:extLst>
      <p:ext uri="{BB962C8B-B14F-4D97-AF65-F5344CB8AC3E}">
        <p14:creationId xmlns:p14="http://schemas.microsoft.com/office/powerpoint/2010/main" val="1915906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6D55F3-CE0C-CA44-8484-3B0215B08FF4}" type="slidenum">
              <a:rPr lang="en-US" smtClean="0"/>
              <a:t>7</a:t>
            </a:fld>
            <a:endParaRPr lang="en-US"/>
          </a:p>
        </p:txBody>
      </p:sp>
    </p:spTree>
    <p:extLst>
      <p:ext uri="{BB962C8B-B14F-4D97-AF65-F5344CB8AC3E}">
        <p14:creationId xmlns:p14="http://schemas.microsoft.com/office/powerpoint/2010/main" val="1915906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Charitable giving and volunteer efforts: Companies give employees time off for volunteering every year and donate portions of revenue to a charitable organization.</a:t>
            </a:r>
          </a:p>
          <a:p>
            <a:endParaRPr lang="en-US" dirty="0"/>
          </a:p>
          <a:p>
            <a:r>
              <a:rPr lang="en-US" dirty="0"/>
              <a:t>Changes to company policies to improve or benefit the environment: Companies are holding tree-planting events, minimizing paper waste, switching to energy-saving bulbs, setting up recycling bins and allowing remote work to reduce the negative impact of commuter traffic.</a:t>
            </a:r>
          </a:p>
          <a:p>
            <a:endParaRPr lang="en-US" dirty="0"/>
          </a:p>
          <a:p>
            <a:r>
              <a:rPr lang="en-US" dirty="0"/>
              <a:t>Improving labor policies and embracing fair trade: Brands are striving to improve working conditions and the well-being of employees. They are giving parents significant periods of paid leave, unlimited vacation time, more natural lighting, soft seating and plants to boost energy and morale.</a:t>
            </a:r>
          </a:p>
          <a:p>
            <a:endParaRPr lang="en-US" dirty="0"/>
          </a:p>
          <a:p>
            <a:r>
              <a:rPr lang="en-US" b="1" i="0" dirty="0">
                <a:solidFill>
                  <a:srgbClr val="3A3A3A"/>
                </a:solidFill>
                <a:effectLst/>
                <a:latin typeface="Arial" panose="020B0604020202020204" pitchFamily="34" charset="0"/>
              </a:rPr>
              <a:t>Volunteering at Homeless Shelters and Food Banks:</a:t>
            </a:r>
            <a:r>
              <a:rPr lang="en-US" b="0" i="0" dirty="0">
                <a:solidFill>
                  <a:srgbClr val="3A3A3A"/>
                </a:solidFill>
                <a:effectLst/>
                <a:latin typeface="Arial" panose="020B0604020202020204" pitchFamily="34" charset="0"/>
              </a:rPr>
              <a:t> Donating time and resources to assist vulnerable populations, such as those experiencing homelessness or hunger, is a compassionate way to show social responsibility. These actions not only provide immediate assistance to those in need but also foster a sense of empathy and understanding within the community.</a:t>
            </a:r>
          </a:p>
          <a:p>
            <a:endParaRPr lang="en-US" b="0" i="0" dirty="0">
              <a:solidFill>
                <a:srgbClr val="3A3A3A"/>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A3A3A"/>
                </a:solidFill>
                <a:effectLst/>
                <a:latin typeface="Arial" panose="020B0604020202020204" pitchFamily="34" charset="0"/>
              </a:rPr>
              <a:t>Planting Trees to Combat Deforestation:</a:t>
            </a:r>
            <a:r>
              <a:rPr lang="en-US" b="0" i="0" dirty="0">
                <a:solidFill>
                  <a:srgbClr val="3A3A3A"/>
                </a:solidFill>
                <a:effectLst/>
                <a:latin typeface="Arial" panose="020B0604020202020204" pitchFamily="34" charset="0"/>
              </a:rPr>
              <a:t> </a:t>
            </a:r>
            <a:r>
              <a:rPr lang="en-US" b="0" i="0" u="sng" dirty="0">
                <a:solidFill>
                  <a:srgbClr val="2E38FF"/>
                </a:solidFill>
                <a:effectLst/>
                <a:latin typeface="Arial" panose="020B0604020202020204" pitchFamily="34" charset="0"/>
                <a:hlinkClick r:id="rId3"/>
              </a:rPr>
              <a:t>Deforestation</a:t>
            </a:r>
            <a:r>
              <a:rPr lang="en-US" b="0" i="0" dirty="0">
                <a:solidFill>
                  <a:srgbClr val="3A3A3A"/>
                </a:solidFill>
                <a:effectLst/>
                <a:latin typeface="Arial" panose="020B0604020202020204" pitchFamily="34" charset="0"/>
              </a:rPr>
              <a:t> is a serious matter about to reach its tipping point. Being environmentally conscious can make a person feel good about themselves because they are being socially responsible. What’s good for the environment is good for people on many levels; physically and psychologically.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A3A3A"/>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3A3A3A"/>
                </a:solidFill>
                <a:effectLst/>
                <a:latin typeface="Arial" panose="020B0604020202020204" pitchFamily="34" charset="0"/>
              </a:rPr>
              <a:t>A Shoulder to Cry on:</a:t>
            </a:r>
            <a:r>
              <a:rPr lang="en-US" b="0" i="0" dirty="0">
                <a:solidFill>
                  <a:srgbClr val="3A3A3A"/>
                </a:solidFill>
                <a:effectLst/>
                <a:latin typeface="Arial" panose="020B0604020202020204" pitchFamily="34" charset="0"/>
              </a:rPr>
              <a:t> Sometimes one of the best ways to be socially responsible is to just be there for a friend in their time of need. At some point in life, everyone will encounter challenges that can seem overwhelming. Even if a solution can’t be offered, just the gentle act of providing a shoulder to cry on can be exactly what is needed in that moment.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A3A3A"/>
              </a:solidFill>
              <a:effectLst/>
              <a:latin typeface="Arial" panose="020B0604020202020204" pitchFamily="34" charset="0"/>
            </a:endParaRPr>
          </a:p>
          <a:p>
            <a:endParaRPr lang="en-PH" dirty="0"/>
          </a:p>
        </p:txBody>
      </p:sp>
      <p:sp>
        <p:nvSpPr>
          <p:cNvPr id="4" name="Slide Number Placeholder 3"/>
          <p:cNvSpPr>
            <a:spLocks noGrp="1"/>
          </p:cNvSpPr>
          <p:nvPr>
            <p:ph type="sldNum" sz="quarter" idx="5"/>
          </p:nvPr>
        </p:nvSpPr>
        <p:spPr/>
        <p:txBody>
          <a:bodyPr/>
          <a:lstStyle/>
          <a:p>
            <a:fld id="{B36D55F3-CE0C-CA44-8484-3B0215B08FF4}" type="slidenum">
              <a:rPr lang="en-US" smtClean="0"/>
              <a:t>16</a:t>
            </a:fld>
            <a:endParaRPr lang="en-US"/>
          </a:p>
        </p:txBody>
      </p:sp>
    </p:spTree>
    <p:extLst>
      <p:ext uri="{BB962C8B-B14F-4D97-AF65-F5344CB8AC3E}">
        <p14:creationId xmlns:p14="http://schemas.microsoft.com/office/powerpoint/2010/main" val="2122503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7/24/2023</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7/24/2023</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7/24/2023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7/24/2023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7/24/2023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7/24/2023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7/24/2023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7/24/2023</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7/24/2023</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helpfulprofessor.com/social-responsibility-norm-examples/" TargetMode="External"/><Relationship Id="rId2" Type="http://schemas.openxmlformats.org/officeDocument/2006/relationships/hyperlink" Target="https://www.indeed.com/career-advice/career-development/social-responsibility" TargetMode="External"/><Relationship Id="rId1" Type="http://schemas.openxmlformats.org/officeDocument/2006/relationships/slideLayout" Target="../slideLayouts/slideLayout2.xml"/><Relationship Id="rId4" Type="http://schemas.openxmlformats.org/officeDocument/2006/relationships/hyperlink" Target="https://www.slideshare.net/deepbaazigar/social-responsibilities-of-business-7671499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12DEB-2459-CB4C-FE2B-A5371AFA713E}"/>
              </a:ext>
            </a:extLst>
          </p:cNvPr>
          <p:cNvSpPr>
            <a:spLocks noGrp="1"/>
          </p:cNvSpPr>
          <p:nvPr>
            <p:ph type="ctrTitle"/>
          </p:nvPr>
        </p:nvSpPr>
        <p:spPr/>
        <p:txBody>
          <a:bodyPr/>
          <a:lstStyle/>
          <a:p>
            <a:r>
              <a:rPr lang="en-US" dirty="0"/>
              <a:t>Social responsibility</a:t>
            </a:r>
          </a:p>
        </p:txBody>
      </p:sp>
      <p:sp>
        <p:nvSpPr>
          <p:cNvPr id="3" name="Subtitle 2">
            <a:extLst>
              <a:ext uri="{FF2B5EF4-FFF2-40B4-BE49-F238E27FC236}">
                <a16:creationId xmlns:a16="http://schemas.microsoft.com/office/drawing/2014/main" id="{3C3FCDD2-7D28-F901-116A-0CC361C9EAC8}"/>
              </a:ext>
            </a:extLst>
          </p:cNvPr>
          <p:cNvSpPr>
            <a:spLocks noGrp="1"/>
          </p:cNvSpPr>
          <p:nvPr>
            <p:ph type="subTitle" idx="1"/>
          </p:nvPr>
        </p:nvSpPr>
        <p:spPr/>
        <p:txBody>
          <a:bodyPr/>
          <a:lstStyle/>
          <a:p>
            <a:endParaRPr lang="en-US"/>
          </a:p>
          <a:p>
            <a:r>
              <a:rPr lang="en-US"/>
              <a:t>NOVEMGER </a:t>
            </a:r>
            <a:r>
              <a:rPr lang="en-US" dirty="0"/>
              <a:t>D. PASCUA</a:t>
            </a:r>
          </a:p>
        </p:txBody>
      </p:sp>
    </p:spTree>
    <p:extLst>
      <p:ext uri="{BB962C8B-B14F-4D97-AF65-F5344CB8AC3E}">
        <p14:creationId xmlns:p14="http://schemas.microsoft.com/office/powerpoint/2010/main" val="2237331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D0FC7-6E9C-14BD-99B8-2D341CE9DAC7}"/>
              </a:ext>
            </a:extLst>
          </p:cNvPr>
          <p:cNvSpPr>
            <a:spLocks noGrp="1"/>
          </p:cNvSpPr>
          <p:nvPr>
            <p:ph type="title"/>
          </p:nvPr>
        </p:nvSpPr>
        <p:spPr/>
        <p:txBody>
          <a:bodyPr/>
          <a:lstStyle/>
          <a:p>
            <a:r>
              <a:rPr lang="en-US" dirty="0"/>
              <a:t>What is Social Responsibility?</a:t>
            </a:r>
          </a:p>
        </p:txBody>
      </p:sp>
      <p:sp>
        <p:nvSpPr>
          <p:cNvPr id="3" name="Content Placeholder 2">
            <a:extLst>
              <a:ext uri="{FF2B5EF4-FFF2-40B4-BE49-F238E27FC236}">
                <a16:creationId xmlns:a16="http://schemas.microsoft.com/office/drawing/2014/main" id="{9CFC6013-4D9F-394D-95B5-9E198FC957A8}"/>
              </a:ext>
            </a:extLst>
          </p:cNvPr>
          <p:cNvSpPr>
            <a:spLocks noGrp="1"/>
          </p:cNvSpPr>
          <p:nvPr>
            <p:ph idx="1"/>
          </p:nvPr>
        </p:nvSpPr>
        <p:spPr/>
        <p:txBody>
          <a:bodyPr/>
          <a:lstStyle/>
          <a:p>
            <a:r>
              <a:rPr lang="en-US" b="1" dirty="0"/>
              <a:t>A duty of every individual to perform as to maintain a balance between the economy and the ecosystems. </a:t>
            </a:r>
          </a:p>
          <a:p>
            <a:r>
              <a:rPr lang="en-US" b="1" dirty="0"/>
              <a:t>Helps individuals, organizations, and governments have a positive impact on development, business and society with a positive contribution to bottom-line results. </a:t>
            </a:r>
          </a:p>
          <a:p>
            <a:r>
              <a:rPr lang="en-US" b="1" dirty="0"/>
              <a:t>It pertains NOT ONLY to BUSINESS organizations but also to everyone whose any action impacts the environment. </a:t>
            </a:r>
          </a:p>
        </p:txBody>
      </p:sp>
    </p:spTree>
    <p:extLst>
      <p:ext uri="{BB962C8B-B14F-4D97-AF65-F5344CB8AC3E}">
        <p14:creationId xmlns:p14="http://schemas.microsoft.com/office/powerpoint/2010/main" val="3306691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B5796B-9519-F2B0-9973-8E1976A01C51}"/>
              </a:ext>
            </a:extLst>
          </p:cNvPr>
          <p:cNvSpPr>
            <a:spLocks noGrp="1"/>
          </p:cNvSpPr>
          <p:nvPr>
            <p:ph idx="1"/>
          </p:nvPr>
        </p:nvSpPr>
        <p:spPr>
          <a:xfrm>
            <a:off x="1371600" y="1441979"/>
            <a:ext cx="9601200" cy="5106459"/>
          </a:xfrm>
        </p:spPr>
        <p:txBody>
          <a:bodyPr>
            <a:noAutofit/>
          </a:bodyPr>
          <a:lstStyle/>
          <a:p>
            <a:pPr marL="0" indent="0">
              <a:buNone/>
            </a:pPr>
            <a:r>
              <a:rPr lang="en-US" sz="4000" dirty="0"/>
              <a:t>SOCIAL RESPONSIBILITIES includes 4 Dimension:</a:t>
            </a:r>
          </a:p>
          <a:p>
            <a:pPr>
              <a:buFont typeface="Arial" panose="020B0604020202020204" pitchFamily="34" charset="0"/>
              <a:buChar char="•"/>
            </a:pPr>
            <a:r>
              <a:rPr lang="en-US" sz="4000" dirty="0"/>
              <a:t>Philanthropic </a:t>
            </a:r>
          </a:p>
          <a:p>
            <a:pPr>
              <a:buFont typeface="Arial" panose="020B0604020202020204" pitchFamily="34" charset="0"/>
              <a:buChar char="•"/>
            </a:pPr>
            <a:r>
              <a:rPr lang="en-US" sz="4000" dirty="0"/>
              <a:t>Ethical</a:t>
            </a:r>
          </a:p>
          <a:p>
            <a:pPr>
              <a:buFont typeface="Arial" panose="020B0604020202020204" pitchFamily="34" charset="0"/>
              <a:buChar char="•"/>
            </a:pPr>
            <a:r>
              <a:rPr lang="en-US" sz="4000" dirty="0"/>
              <a:t>Legal</a:t>
            </a:r>
          </a:p>
          <a:p>
            <a:pPr>
              <a:buFont typeface="Arial" panose="020B0604020202020204" pitchFamily="34" charset="0"/>
              <a:buChar char="•"/>
            </a:pPr>
            <a:r>
              <a:rPr lang="en-US" sz="4000" dirty="0"/>
              <a:t>Economic </a:t>
            </a:r>
          </a:p>
        </p:txBody>
      </p:sp>
      <p:sp>
        <p:nvSpPr>
          <p:cNvPr id="5" name="Title 4">
            <a:extLst>
              <a:ext uri="{FF2B5EF4-FFF2-40B4-BE49-F238E27FC236}">
                <a16:creationId xmlns:a16="http://schemas.microsoft.com/office/drawing/2014/main" id="{58878B4A-4F1B-3AE7-A0E3-17246B297ED0}"/>
              </a:ext>
            </a:extLst>
          </p:cNvPr>
          <p:cNvSpPr>
            <a:spLocks noGrp="1"/>
          </p:cNvSpPr>
          <p:nvPr>
            <p:ph type="title"/>
          </p:nvPr>
        </p:nvSpPr>
        <p:spPr/>
        <p:txBody>
          <a:bodyPr/>
          <a:lstStyle/>
          <a:p>
            <a:r>
              <a:rPr lang="en-US" b="1" dirty="0"/>
              <a:t>DIMENSIONS OF SR</a:t>
            </a:r>
          </a:p>
        </p:txBody>
      </p:sp>
      <p:pic>
        <p:nvPicPr>
          <p:cNvPr id="6" name="Picture 6">
            <a:extLst>
              <a:ext uri="{FF2B5EF4-FFF2-40B4-BE49-F238E27FC236}">
                <a16:creationId xmlns:a16="http://schemas.microsoft.com/office/drawing/2014/main" id="{B0DEABB8-F7AE-7DF0-3DB5-87C92E603A73}"/>
              </a:ext>
            </a:extLst>
          </p:cNvPr>
          <p:cNvPicPr>
            <a:picLocks noChangeAspect="1"/>
          </p:cNvPicPr>
          <p:nvPr/>
        </p:nvPicPr>
        <p:blipFill>
          <a:blip r:embed="rId3"/>
          <a:stretch>
            <a:fillRect/>
          </a:stretch>
        </p:blipFill>
        <p:spPr>
          <a:xfrm>
            <a:off x="5728230" y="2171700"/>
            <a:ext cx="6283854" cy="4376738"/>
          </a:xfrm>
          <a:prstGeom prst="rect">
            <a:avLst/>
          </a:prstGeom>
        </p:spPr>
      </p:pic>
    </p:spTree>
    <p:extLst>
      <p:ext uri="{BB962C8B-B14F-4D97-AF65-F5344CB8AC3E}">
        <p14:creationId xmlns:p14="http://schemas.microsoft.com/office/powerpoint/2010/main" val="3783848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7CC0D-4B36-0BE2-984B-7FB2BB4A3A0B}"/>
              </a:ext>
            </a:extLst>
          </p:cNvPr>
          <p:cNvSpPr>
            <a:spLocks noGrp="1"/>
          </p:cNvSpPr>
          <p:nvPr>
            <p:ph type="title"/>
          </p:nvPr>
        </p:nvSpPr>
        <p:spPr>
          <a:xfrm>
            <a:off x="1371600" y="685800"/>
            <a:ext cx="9601200" cy="862013"/>
          </a:xfrm>
        </p:spPr>
        <p:txBody>
          <a:bodyPr/>
          <a:lstStyle/>
          <a:p>
            <a:r>
              <a:rPr lang="en-US" dirty="0"/>
              <a:t>Philanthropic Responsibilities</a:t>
            </a:r>
          </a:p>
        </p:txBody>
      </p:sp>
      <p:sp>
        <p:nvSpPr>
          <p:cNvPr id="3" name="Content Placeholder 2">
            <a:extLst>
              <a:ext uri="{FF2B5EF4-FFF2-40B4-BE49-F238E27FC236}">
                <a16:creationId xmlns:a16="http://schemas.microsoft.com/office/drawing/2014/main" id="{DB2B9AD7-F96D-03AB-52D6-FAAEBDC72F56}"/>
              </a:ext>
            </a:extLst>
          </p:cNvPr>
          <p:cNvSpPr>
            <a:spLocks noGrp="1"/>
          </p:cNvSpPr>
          <p:nvPr>
            <p:ph idx="1"/>
          </p:nvPr>
        </p:nvSpPr>
        <p:spPr>
          <a:xfrm>
            <a:off x="1371600" y="1547813"/>
            <a:ext cx="9601200" cy="4319587"/>
          </a:xfrm>
        </p:spPr>
        <p:txBody>
          <a:bodyPr>
            <a:normAutofit fontScale="92500" lnSpcReduction="20000"/>
          </a:bodyPr>
          <a:lstStyle/>
          <a:p>
            <a:r>
              <a:rPr lang="en-US" sz="2600" dirty="0"/>
              <a:t>Comes from the Greek Word “Philanthropy” which means “the love of the fellow human.”</a:t>
            </a:r>
          </a:p>
          <a:p>
            <a:r>
              <a:rPr lang="en-US" sz="2600" dirty="0"/>
              <a:t>It incorporates activities that are within the corporation’s discretion to improve the quality of life of employees, loyal communities, and ultimately society at large.</a:t>
            </a:r>
          </a:p>
          <a:p>
            <a:r>
              <a:rPr lang="en-US" sz="2600" dirty="0"/>
              <a:t>It is important to note that the philanthropic activities are desires of corporations not expected by the society.</a:t>
            </a:r>
          </a:p>
          <a:p>
            <a:r>
              <a:rPr lang="en-US" sz="2600" dirty="0"/>
              <a:t>Examples of Philanthropic responsibilities </a:t>
            </a:r>
          </a:p>
          <a:p>
            <a:pPr>
              <a:buFont typeface="Wingdings" pitchFamily="2" charset="2"/>
              <a:buChar char="q"/>
            </a:pPr>
            <a:r>
              <a:rPr lang="en-US" sz="2600" dirty="0"/>
              <a:t>Making donations to charitable institutions</a:t>
            </a:r>
          </a:p>
          <a:p>
            <a:pPr>
              <a:buFont typeface="Wingdings" pitchFamily="2" charset="2"/>
              <a:buChar char="q"/>
            </a:pPr>
            <a:r>
              <a:rPr lang="en-US" sz="2600" dirty="0"/>
              <a:t>Building of recreational facilities for employees and their families</a:t>
            </a:r>
          </a:p>
          <a:p>
            <a:pPr>
              <a:buFont typeface="Wingdings" pitchFamily="2" charset="2"/>
              <a:buChar char="q"/>
            </a:pPr>
            <a:r>
              <a:rPr lang="en-US" sz="2600" dirty="0"/>
              <a:t>Support for educational institutions</a:t>
            </a:r>
          </a:p>
          <a:p>
            <a:endParaRPr lang="en-US" dirty="0"/>
          </a:p>
        </p:txBody>
      </p:sp>
    </p:spTree>
    <p:extLst>
      <p:ext uri="{BB962C8B-B14F-4D97-AF65-F5344CB8AC3E}">
        <p14:creationId xmlns:p14="http://schemas.microsoft.com/office/powerpoint/2010/main" val="99260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A8A9-1F0A-C5D6-5780-79055EE41B63}"/>
              </a:ext>
            </a:extLst>
          </p:cNvPr>
          <p:cNvSpPr>
            <a:spLocks noGrp="1"/>
          </p:cNvSpPr>
          <p:nvPr>
            <p:ph type="title"/>
          </p:nvPr>
        </p:nvSpPr>
        <p:spPr>
          <a:xfrm>
            <a:off x="1371600" y="685800"/>
            <a:ext cx="9601200" cy="879021"/>
          </a:xfrm>
        </p:spPr>
        <p:txBody>
          <a:bodyPr/>
          <a:lstStyle/>
          <a:p>
            <a:r>
              <a:rPr lang="en-US" dirty="0"/>
              <a:t>Ethical Responsibilities</a:t>
            </a:r>
          </a:p>
        </p:txBody>
      </p:sp>
      <p:sp>
        <p:nvSpPr>
          <p:cNvPr id="3" name="Content Placeholder 2">
            <a:extLst>
              <a:ext uri="{FF2B5EF4-FFF2-40B4-BE49-F238E27FC236}">
                <a16:creationId xmlns:a16="http://schemas.microsoft.com/office/drawing/2014/main" id="{5340536E-2459-F2D0-CD50-0D64AAA8DCF7}"/>
              </a:ext>
            </a:extLst>
          </p:cNvPr>
          <p:cNvSpPr>
            <a:spLocks noGrp="1"/>
          </p:cNvSpPr>
          <p:nvPr>
            <p:ph idx="1"/>
          </p:nvPr>
        </p:nvSpPr>
        <p:spPr/>
        <p:txBody>
          <a:bodyPr/>
          <a:lstStyle/>
          <a:p>
            <a:r>
              <a:rPr lang="en-US" sz="2400" dirty="0"/>
              <a:t>Refers to obligations which are right, just and fair to be met by corporations. </a:t>
            </a:r>
          </a:p>
          <a:p>
            <a:r>
              <a:rPr lang="en-US" sz="2400" dirty="0"/>
              <a:t>Going beyond law, rules and regulations what proves good for the society. </a:t>
            </a:r>
          </a:p>
          <a:p>
            <a:r>
              <a:rPr lang="en-US" sz="2400" dirty="0"/>
              <a:t>Ethical Responsibilities consist of what is generally expected by society from corporations over and above economic and legal expectations</a:t>
            </a:r>
            <a:r>
              <a:rPr lang="en-US" dirty="0"/>
              <a:t>. </a:t>
            </a:r>
          </a:p>
        </p:txBody>
      </p:sp>
    </p:spTree>
    <p:extLst>
      <p:ext uri="{BB962C8B-B14F-4D97-AF65-F5344CB8AC3E}">
        <p14:creationId xmlns:p14="http://schemas.microsoft.com/office/powerpoint/2010/main" val="3601092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FF80-2BD4-AC07-EBE9-3468594A49DD}"/>
              </a:ext>
            </a:extLst>
          </p:cNvPr>
          <p:cNvSpPr>
            <a:spLocks noGrp="1"/>
          </p:cNvSpPr>
          <p:nvPr>
            <p:ph type="title"/>
          </p:nvPr>
        </p:nvSpPr>
        <p:spPr/>
        <p:txBody>
          <a:bodyPr/>
          <a:lstStyle/>
          <a:p>
            <a:r>
              <a:rPr lang="en-US" dirty="0"/>
              <a:t>Legal Responsibilities</a:t>
            </a:r>
          </a:p>
        </p:txBody>
      </p:sp>
      <p:sp>
        <p:nvSpPr>
          <p:cNvPr id="3" name="Content Placeholder 2">
            <a:extLst>
              <a:ext uri="{FF2B5EF4-FFF2-40B4-BE49-F238E27FC236}">
                <a16:creationId xmlns:a16="http://schemas.microsoft.com/office/drawing/2014/main" id="{DC9A5F34-456A-D012-A71D-43D950D08D0C}"/>
              </a:ext>
            </a:extLst>
          </p:cNvPr>
          <p:cNvSpPr>
            <a:spLocks noGrp="1"/>
          </p:cNvSpPr>
          <p:nvPr>
            <p:ph idx="1"/>
          </p:nvPr>
        </p:nvSpPr>
        <p:spPr/>
        <p:txBody>
          <a:bodyPr/>
          <a:lstStyle/>
          <a:p>
            <a:r>
              <a:rPr lang="en-US" dirty="0"/>
              <a:t>Refers to obeying governmental laws and regulations.</a:t>
            </a:r>
          </a:p>
          <a:p>
            <a:pPr>
              <a:buFont typeface="Wingdings" pitchFamily="2" charset="2"/>
              <a:buChar char="q"/>
            </a:pPr>
            <a:r>
              <a:rPr lang="en-US" dirty="0"/>
              <a:t>Civil law</a:t>
            </a:r>
          </a:p>
          <a:p>
            <a:pPr>
              <a:buFont typeface="Wingdings" pitchFamily="2" charset="2"/>
              <a:buChar char="q"/>
            </a:pPr>
            <a:r>
              <a:rPr lang="en-US" dirty="0"/>
              <a:t>Rights and Duties of Individuals and organizations</a:t>
            </a:r>
          </a:p>
          <a:p>
            <a:pPr>
              <a:buFont typeface="Wingdings" pitchFamily="2" charset="2"/>
              <a:buChar char="q"/>
            </a:pPr>
            <a:r>
              <a:rPr lang="en-US" dirty="0"/>
              <a:t>Criminal Law</a:t>
            </a:r>
          </a:p>
          <a:p>
            <a:r>
              <a:rPr lang="en-US" dirty="0"/>
              <a:t>Prohibits specific actions and imposes fines/ imprisonment as punishment for breaking the law. </a:t>
            </a:r>
          </a:p>
          <a:p>
            <a:endParaRPr lang="en-US" dirty="0"/>
          </a:p>
        </p:txBody>
      </p:sp>
    </p:spTree>
    <p:extLst>
      <p:ext uri="{BB962C8B-B14F-4D97-AF65-F5344CB8AC3E}">
        <p14:creationId xmlns:p14="http://schemas.microsoft.com/office/powerpoint/2010/main" val="3532424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FF80-2BD4-AC07-EBE9-3468594A49DD}"/>
              </a:ext>
            </a:extLst>
          </p:cNvPr>
          <p:cNvSpPr>
            <a:spLocks noGrp="1"/>
          </p:cNvSpPr>
          <p:nvPr>
            <p:ph type="title"/>
          </p:nvPr>
        </p:nvSpPr>
        <p:spPr/>
        <p:txBody>
          <a:bodyPr/>
          <a:lstStyle/>
          <a:p>
            <a:r>
              <a:rPr lang="en-US" dirty="0"/>
              <a:t>Economic Responsibilities</a:t>
            </a:r>
          </a:p>
        </p:txBody>
      </p:sp>
      <p:sp>
        <p:nvSpPr>
          <p:cNvPr id="3" name="Content Placeholder 2">
            <a:extLst>
              <a:ext uri="{FF2B5EF4-FFF2-40B4-BE49-F238E27FC236}">
                <a16:creationId xmlns:a16="http://schemas.microsoft.com/office/drawing/2014/main" id="{DC9A5F34-456A-D012-A71D-43D950D08D0C}"/>
              </a:ext>
            </a:extLst>
          </p:cNvPr>
          <p:cNvSpPr>
            <a:spLocks noGrp="1"/>
          </p:cNvSpPr>
          <p:nvPr>
            <p:ph idx="1"/>
          </p:nvPr>
        </p:nvSpPr>
        <p:spPr/>
        <p:txBody>
          <a:bodyPr/>
          <a:lstStyle/>
          <a:p>
            <a:r>
              <a:rPr lang="en-US" sz="2800" dirty="0"/>
              <a:t>How resources for the production of goods and services are distributed within the social system.</a:t>
            </a:r>
          </a:p>
          <a:p>
            <a:r>
              <a:rPr lang="en-US" sz="2800" dirty="0"/>
              <a:t>Consumers always favor socially responsible companies or they most enamored with companies that maximize profits. </a:t>
            </a:r>
            <a:r>
              <a:rPr lang="en-US" dirty="0"/>
              <a:t> </a:t>
            </a:r>
          </a:p>
          <a:p>
            <a:endParaRPr lang="en-US" dirty="0"/>
          </a:p>
        </p:txBody>
      </p:sp>
    </p:spTree>
    <p:extLst>
      <p:ext uri="{BB962C8B-B14F-4D97-AF65-F5344CB8AC3E}">
        <p14:creationId xmlns:p14="http://schemas.microsoft.com/office/powerpoint/2010/main" val="3214884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7D22E6-189C-EE87-6CC8-DB18362508FF}"/>
              </a:ext>
            </a:extLst>
          </p:cNvPr>
          <p:cNvSpPr>
            <a:spLocks noGrp="1"/>
          </p:cNvSpPr>
          <p:nvPr>
            <p:ph type="ctrTitle"/>
          </p:nvPr>
        </p:nvSpPr>
        <p:spPr>
          <a:xfrm>
            <a:off x="1915385" y="2591094"/>
            <a:ext cx="8361229" cy="2098226"/>
          </a:xfrm>
        </p:spPr>
        <p:txBody>
          <a:bodyPr/>
          <a:lstStyle/>
          <a:p>
            <a:r>
              <a:rPr lang="en-US" dirty="0"/>
              <a:t>ADVANTAGES OF SOCIAL RESPONSIBILITY</a:t>
            </a:r>
            <a:endParaRPr lang="en-PH" dirty="0"/>
          </a:p>
        </p:txBody>
      </p:sp>
    </p:spTree>
    <p:extLst>
      <p:ext uri="{BB962C8B-B14F-4D97-AF65-F5344CB8AC3E}">
        <p14:creationId xmlns:p14="http://schemas.microsoft.com/office/powerpoint/2010/main" val="3790672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89B6-B588-4E21-C0B7-620902E02712}"/>
              </a:ext>
            </a:extLst>
          </p:cNvPr>
          <p:cNvSpPr>
            <a:spLocks noGrp="1"/>
          </p:cNvSpPr>
          <p:nvPr>
            <p:ph type="title"/>
          </p:nvPr>
        </p:nvSpPr>
        <p:spPr/>
        <p:txBody>
          <a:bodyPr/>
          <a:lstStyle/>
          <a:p>
            <a:r>
              <a:rPr lang="en-US" dirty="0"/>
              <a:t>Advantages of Social Responsibility</a:t>
            </a:r>
            <a:endParaRPr lang="en-PH" dirty="0"/>
          </a:p>
        </p:txBody>
      </p:sp>
      <p:sp>
        <p:nvSpPr>
          <p:cNvPr id="3" name="Content Placeholder 2">
            <a:extLst>
              <a:ext uri="{FF2B5EF4-FFF2-40B4-BE49-F238E27FC236}">
                <a16:creationId xmlns:a16="http://schemas.microsoft.com/office/drawing/2014/main" id="{84558A02-EAC7-8CC8-B974-58974D3D4638}"/>
              </a:ext>
            </a:extLst>
          </p:cNvPr>
          <p:cNvSpPr>
            <a:spLocks noGrp="1"/>
          </p:cNvSpPr>
          <p:nvPr>
            <p:ph idx="1"/>
          </p:nvPr>
        </p:nvSpPr>
        <p:spPr>
          <a:xfrm>
            <a:off x="1371600" y="1818640"/>
            <a:ext cx="9601200" cy="4048760"/>
          </a:xfrm>
        </p:spPr>
        <p:txBody>
          <a:bodyPr/>
          <a:lstStyle/>
          <a:p>
            <a:pPr marL="0" indent="0">
              <a:buNone/>
            </a:pPr>
            <a:r>
              <a:rPr lang="en-US" b="1" i="0" dirty="0">
                <a:solidFill>
                  <a:srgbClr val="2D2D2D"/>
                </a:solidFill>
                <a:effectLst/>
                <a:latin typeface="Noto Sans" panose="020B0502040504020204" pitchFamily="34"/>
              </a:rPr>
              <a:t>1. Gives a company a competitive edge</a:t>
            </a:r>
          </a:p>
          <a:p>
            <a:r>
              <a:rPr lang="en-US" b="0" i="0" dirty="0">
                <a:solidFill>
                  <a:srgbClr val="2D2D2D"/>
                </a:solidFill>
                <a:effectLst/>
                <a:latin typeface="Noto Sans" panose="020B0502040504020204" pitchFamily="34"/>
              </a:rPr>
              <a:t> is a top criterion when choosing a company to shop with or do business with.</a:t>
            </a:r>
          </a:p>
          <a:p>
            <a:r>
              <a:rPr lang="en-US" b="0" i="0" dirty="0">
                <a:solidFill>
                  <a:srgbClr val="2D2D2D"/>
                </a:solidFill>
                <a:effectLst/>
                <a:latin typeface="Noto Sans" panose="020B0502040504020204" pitchFamily="34"/>
              </a:rPr>
              <a:t>Being a socially responsible company is a message you can use in your brand position and marketing.</a:t>
            </a:r>
          </a:p>
          <a:p>
            <a:pPr marL="0" indent="0">
              <a:buNone/>
            </a:pPr>
            <a:endParaRPr lang="en-US" b="0" i="0" dirty="0">
              <a:solidFill>
                <a:srgbClr val="2D2D2D"/>
              </a:solidFill>
              <a:effectLst/>
              <a:latin typeface="Noto Sans" panose="020B0502040504020204" pitchFamily="34"/>
            </a:endParaRPr>
          </a:p>
          <a:p>
            <a:pPr marL="0" indent="0">
              <a:buNone/>
            </a:pPr>
            <a:r>
              <a:rPr lang="en-US" b="1" dirty="0">
                <a:solidFill>
                  <a:srgbClr val="2D2D2D"/>
                </a:solidFill>
                <a:latin typeface="Noto Sans" panose="020B0502040504020204" pitchFamily="34"/>
              </a:rPr>
              <a:t>2. </a:t>
            </a:r>
            <a:r>
              <a:rPr lang="en-US" b="1" i="0" dirty="0">
                <a:solidFill>
                  <a:srgbClr val="2D2D2D"/>
                </a:solidFill>
                <a:effectLst/>
                <a:latin typeface="Noto Sans" panose="020B0502040504020204" pitchFamily="34"/>
              </a:rPr>
              <a:t>Attracts strong candidates and increases retention</a:t>
            </a:r>
          </a:p>
          <a:p>
            <a:r>
              <a:rPr lang="en-US" b="0" i="0" dirty="0">
                <a:solidFill>
                  <a:srgbClr val="2D2D2D"/>
                </a:solidFill>
                <a:effectLst/>
                <a:latin typeface="Noto Sans" panose="020B0502040504020204" pitchFamily="34"/>
              </a:rPr>
              <a:t> consistently provide a socially responsible culture for your employees and have a reputation for doing so, you can attract and retain top talent to your organization.</a:t>
            </a:r>
            <a:endParaRPr lang="en-PH" dirty="0"/>
          </a:p>
          <a:p>
            <a:pPr marL="0" indent="0">
              <a:buNone/>
            </a:pPr>
            <a:endParaRPr lang="en-PH" dirty="0"/>
          </a:p>
        </p:txBody>
      </p:sp>
    </p:spTree>
    <p:extLst>
      <p:ext uri="{BB962C8B-B14F-4D97-AF65-F5344CB8AC3E}">
        <p14:creationId xmlns:p14="http://schemas.microsoft.com/office/powerpoint/2010/main" val="1082883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89B6-B588-4E21-C0B7-620902E02712}"/>
              </a:ext>
            </a:extLst>
          </p:cNvPr>
          <p:cNvSpPr>
            <a:spLocks noGrp="1"/>
          </p:cNvSpPr>
          <p:nvPr>
            <p:ph type="title"/>
          </p:nvPr>
        </p:nvSpPr>
        <p:spPr/>
        <p:txBody>
          <a:bodyPr/>
          <a:lstStyle/>
          <a:p>
            <a:r>
              <a:rPr lang="en-US" dirty="0"/>
              <a:t>Advantages of Social Responsibility</a:t>
            </a:r>
            <a:endParaRPr lang="en-PH" dirty="0"/>
          </a:p>
        </p:txBody>
      </p:sp>
      <p:sp>
        <p:nvSpPr>
          <p:cNvPr id="3" name="Content Placeholder 2">
            <a:extLst>
              <a:ext uri="{FF2B5EF4-FFF2-40B4-BE49-F238E27FC236}">
                <a16:creationId xmlns:a16="http://schemas.microsoft.com/office/drawing/2014/main" id="{84558A02-EAC7-8CC8-B974-58974D3D4638}"/>
              </a:ext>
            </a:extLst>
          </p:cNvPr>
          <p:cNvSpPr>
            <a:spLocks noGrp="1"/>
          </p:cNvSpPr>
          <p:nvPr>
            <p:ph idx="1"/>
          </p:nvPr>
        </p:nvSpPr>
        <p:spPr>
          <a:xfrm>
            <a:off x="1371600" y="1818640"/>
            <a:ext cx="9601200" cy="4048760"/>
          </a:xfrm>
        </p:spPr>
        <p:txBody>
          <a:bodyPr>
            <a:normAutofit lnSpcReduction="10000"/>
          </a:bodyPr>
          <a:lstStyle/>
          <a:p>
            <a:pPr marL="0" indent="0">
              <a:buNone/>
            </a:pPr>
            <a:r>
              <a:rPr lang="en-US" b="1" i="0" dirty="0">
                <a:solidFill>
                  <a:srgbClr val="2D2D2D"/>
                </a:solidFill>
                <a:effectLst/>
                <a:latin typeface="Noto Sans" panose="020B0502040504020204" pitchFamily="34"/>
              </a:rPr>
              <a:t>3. Increases customer loyalty and advocacy</a:t>
            </a:r>
          </a:p>
          <a:p>
            <a:pPr marL="0" indent="0">
              <a:buNone/>
            </a:pPr>
            <a:endParaRPr lang="en-US" b="1" i="0" dirty="0">
              <a:solidFill>
                <a:srgbClr val="2D2D2D"/>
              </a:solidFill>
              <a:effectLst/>
              <a:latin typeface="Noto Sans" panose="020B0502040504020204" pitchFamily="34"/>
            </a:endParaRPr>
          </a:p>
          <a:p>
            <a:r>
              <a:rPr lang="en-US" b="0" i="0" dirty="0">
                <a:solidFill>
                  <a:srgbClr val="2D2D2D"/>
                </a:solidFill>
                <a:effectLst/>
                <a:latin typeface="Noto Sans" panose="020B0502040504020204" pitchFamily="34"/>
              </a:rPr>
              <a:t> customer advocacy is key to attracting new customers. </a:t>
            </a:r>
          </a:p>
          <a:p>
            <a:r>
              <a:rPr lang="en-US" b="0" i="0" dirty="0">
                <a:solidFill>
                  <a:srgbClr val="2D2D2D"/>
                </a:solidFill>
                <a:effectLst/>
                <a:latin typeface="Noto Sans" panose="020B0502040504020204" pitchFamily="34"/>
              </a:rPr>
              <a:t>As your loyal customers talk to people they know about your product and share positive reviews, they will drive more business your way.</a:t>
            </a:r>
          </a:p>
          <a:p>
            <a:pPr marL="0" indent="0">
              <a:buNone/>
            </a:pPr>
            <a:endParaRPr lang="en-PH" dirty="0">
              <a:solidFill>
                <a:srgbClr val="2D2D2D"/>
              </a:solidFill>
              <a:latin typeface="Noto Sans" panose="020B0502040504020204" pitchFamily="34"/>
            </a:endParaRPr>
          </a:p>
          <a:p>
            <a:pPr marL="0" indent="0" algn="l">
              <a:buNone/>
            </a:pPr>
            <a:r>
              <a:rPr lang="en-PH" dirty="0">
                <a:solidFill>
                  <a:srgbClr val="2D2D2D"/>
                </a:solidFill>
                <a:latin typeface="Noto Sans" panose="020B0502040504020204" pitchFamily="34"/>
              </a:rPr>
              <a:t>4. </a:t>
            </a:r>
            <a:r>
              <a:rPr lang="en-US" b="1" i="0" dirty="0">
                <a:solidFill>
                  <a:srgbClr val="2D2D2D"/>
                </a:solidFill>
                <a:effectLst/>
                <a:latin typeface="Noto Sans" panose="020B0502040504020204" pitchFamily="34"/>
              </a:rPr>
              <a:t>Improves company reputation</a:t>
            </a:r>
          </a:p>
          <a:p>
            <a:pPr algn="l"/>
            <a:r>
              <a:rPr lang="en-US" b="0" i="0" dirty="0">
                <a:solidFill>
                  <a:srgbClr val="2D2D2D"/>
                </a:solidFill>
                <a:effectLst/>
                <a:latin typeface="Noto Sans" panose="020B0502040504020204" pitchFamily="34"/>
              </a:rPr>
              <a:t>If your organization is continually participating in social initiatives, it gives an impression to customers, investors and the world as a whole that your organization is financially viable. This, in turn, can attract new investors and investors alike.</a:t>
            </a:r>
          </a:p>
          <a:p>
            <a:pPr marL="0" indent="0">
              <a:buNone/>
            </a:pPr>
            <a:endParaRPr lang="en-US" dirty="0">
              <a:solidFill>
                <a:srgbClr val="2D2D2D"/>
              </a:solidFill>
              <a:latin typeface="Noto Sans" panose="020B0502040504020204" pitchFamily="34"/>
            </a:endParaRPr>
          </a:p>
        </p:txBody>
      </p:sp>
    </p:spTree>
    <p:extLst>
      <p:ext uri="{BB962C8B-B14F-4D97-AF65-F5344CB8AC3E}">
        <p14:creationId xmlns:p14="http://schemas.microsoft.com/office/powerpoint/2010/main" val="3270428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89B6-B588-4E21-C0B7-620902E02712}"/>
              </a:ext>
            </a:extLst>
          </p:cNvPr>
          <p:cNvSpPr>
            <a:spLocks noGrp="1"/>
          </p:cNvSpPr>
          <p:nvPr>
            <p:ph type="title"/>
          </p:nvPr>
        </p:nvSpPr>
        <p:spPr/>
        <p:txBody>
          <a:bodyPr/>
          <a:lstStyle/>
          <a:p>
            <a:r>
              <a:rPr lang="en-US" dirty="0"/>
              <a:t>Advantages of Social Responsibility</a:t>
            </a:r>
            <a:endParaRPr lang="en-PH" dirty="0"/>
          </a:p>
        </p:txBody>
      </p:sp>
      <p:sp>
        <p:nvSpPr>
          <p:cNvPr id="3" name="Content Placeholder 2">
            <a:extLst>
              <a:ext uri="{FF2B5EF4-FFF2-40B4-BE49-F238E27FC236}">
                <a16:creationId xmlns:a16="http://schemas.microsoft.com/office/drawing/2014/main" id="{84558A02-EAC7-8CC8-B974-58974D3D4638}"/>
              </a:ext>
            </a:extLst>
          </p:cNvPr>
          <p:cNvSpPr>
            <a:spLocks noGrp="1"/>
          </p:cNvSpPr>
          <p:nvPr>
            <p:ph idx="1"/>
          </p:nvPr>
        </p:nvSpPr>
        <p:spPr>
          <a:xfrm>
            <a:off x="1371600" y="1818640"/>
            <a:ext cx="9601200" cy="4048760"/>
          </a:xfrm>
        </p:spPr>
        <p:txBody>
          <a:bodyPr>
            <a:normAutofit/>
          </a:bodyPr>
          <a:lstStyle/>
          <a:p>
            <a:pPr marL="0" indent="0" algn="l">
              <a:buNone/>
            </a:pPr>
            <a:r>
              <a:rPr lang="en-US" b="1" i="0" dirty="0">
                <a:solidFill>
                  <a:srgbClr val="2D2D2D"/>
                </a:solidFill>
                <a:effectLst/>
                <a:latin typeface="Noto Sans" panose="020B0502040504020204" pitchFamily="34"/>
              </a:rPr>
              <a:t>5. Improves profitability and value</a:t>
            </a:r>
          </a:p>
          <a:p>
            <a:pPr algn="l"/>
            <a:r>
              <a:rPr lang="en-US" b="0" i="0" dirty="0">
                <a:solidFill>
                  <a:srgbClr val="2D2D2D"/>
                </a:solidFill>
                <a:effectLst/>
                <a:latin typeface="Noto Sans" panose="020B0502040504020204" pitchFamily="34"/>
              </a:rPr>
              <a:t>Companies often find that when they introduce more energy-efficient methods and begin recycling, they cut operational costs and benefit the environment. Social responsibility also increases transparency with investment analysts, shareholders and community members, improving the company's reputation and increasing the overall value.</a:t>
            </a:r>
          </a:p>
          <a:p>
            <a:pPr marL="0" indent="0">
              <a:buNone/>
            </a:pPr>
            <a:endParaRPr lang="en-US" b="0" i="0" dirty="0">
              <a:solidFill>
                <a:srgbClr val="2D2D2D"/>
              </a:solidFill>
              <a:effectLst/>
              <a:latin typeface="Noto Sans" panose="020B0502040504020204" pitchFamily="34"/>
            </a:endParaRPr>
          </a:p>
          <a:p>
            <a:pPr marL="0" indent="0">
              <a:buNone/>
            </a:pPr>
            <a:endParaRPr lang="en-US" dirty="0">
              <a:solidFill>
                <a:srgbClr val="2D2D2D"/>
              </a:solidFill>
              <a:latin typeface="Noto Sans" panose="020B0502040504020204" pitchFamily="34"/>
            </a:endParaRPr>
          </a:p>
        </p:txBody>
      </p:sp>
    </p:spTree>
    <p:extLst>
      <p:ext uri="{BB962C8B-B14F-4D97-AF65-F5344CB8AC3E}">
        <p14:creationId xmlns:p14="http://schemas.microsoft.com/office/powerpoint/2010/main" val="1844245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7D22E6-189C-EE87-6CC8-DB18362508FF}"/>
              </a:ext>
            </a:extLst>
          </p:cNvPr>
          <p:cNvSpPr>
            <a:spLocks noGrp="1"/>
          </p:cNvSpPr>
          <p:nvPr>
            <p:ph type="ctrTitle"/>
          </p:nvPr>
        </p:nvSpPr>
        <p:spPr>
          <a:xfrm>
            <a:off x="1915385" y="2591094"/>
            <a:ext cx="8361229" cy="2098226"/>
          </a:xfrm>
        </p:spPr>
        <p:txBody>
          <a:bodyPr/>
          <a:lstStyle/>
          <a:p>
            <a:r>
              <a:rPr lang="en-US" dirty="0"/>
              <a:t>DISADVANTAGES OF SOCIAL RESPONSIBILITY</a:t>
            </a:r>
            <a:endParaRPr lang="en-PH" dirty="0"/>
          </a:p>
        </p:txBody>
      </p:sp>
    </p:spTree>
    <p:extLst>
      <p:ext uri="{BB962C8B-B14F-4D97-AF65-F5344CB8AC3E}">
        <p14:creationId xmlns:p14="http://schemas.microsoft.com/office/powerpoint/2010/main" val="3934966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89B6-B588-4E21-C0B7-620902E02712}"/>
              </a:ext>
            </a:extLst>
          </p:cNvPr>
          <p:cNvSpPr>
            <a:spLocks noGrp="1"/>
          </p:cNvSpPr>
          <p:nvPr>
            <p:ph type="title"/>
          </p:nvPr>
        </p:nvSpPr>
        <p:spPr/>
        <p:txBody>
          <a:bodyPr/>
          <a:lstStyle/>
          <a:p>
            <a:r>
              <a:rPr lang="en-US" dirty="0"/>
              <a:t>Disadvantages of Social Responsibility</a:t>
            </a:r>
            <a:endParaRPr lang="en-PH" dirty="0"/>
          </a:p>
        </p:txBody>
      </p:sp>
      <p:sp>
        <p:nvSpPr>
          <p:cNvPr id="3" name="Content Placeholder 2">
            <a:extLst>
              <a:ext uri="{FF2B5EF4-FFF2-40B4-BE49-F238E27FC236}">
                <a16:creationId xmlns:a16="http://schemas.microsoft.com/office/drawing/2014/main" id="{84558A02-EAC7-8CC8-B974-58974D3D4638}"/>
              </a:ext>
            </a:extLst>
          </p:cNvPr>
          <p:cNvSpPr>
            <a:spLocks noGrp="1"/>
          </p:cNvSpPr>
          <p:nvPr>
            <p:ph idx="1"/>
          </p:nvPr>
        </p:nvSpPr>
        <p:spPr>
          <a:xfrm>
            <a:off x="1371600" y="1818640"/>
            <a:ext cx="9601200" cy="4048760"/>
          </a:xfrm>
        </p:spPr>
        <p:txBody>
          <a:bodyPr>
            <a:normAutofit lnSpcReduction="10000"/>
          </a:bodyPr>
          <a:lstStyle/>
          <a:p>
            <a:pPr marL="0" indent="0" algn="l">
              <a:buNone/>
            </a:pPr>
            <a:r>
              <a:rPr lang="en-US" b="1" i="0" dirty="0">
                <a:solidFill>
                  <a:srgbClr val="2D2D2D"/>
                </a:solidFill>
                <a:effectLst/>
                <a:latin typeface="Noto Sans" panose="020B0502040504020204" pitchFamily="34"/>
              </a:rPr>
              <a:t>1. Costs money to implement</a:t>
            </a:r>
          </a:p>
          <a:p>
            <a:pPr algn="l"/>
            <a:r>
              <a:rPr lang="en-US" dirty="0">
                <a:solidFill>
                  <a:srgbClr val="2D2D2D"/>
                </a:solidFill>
                <a:latin typeface="Noto Sans" panose="020B0502040504020204" pitchFamily="34"/>
              </a:rPr>
              <a:t>T</a:t>
            </a:r>
            <a:r>
              <a:rPr lang="en-US" b="0" i="0" dirty="0">
                <a:solidFill>
                  <a:srgbClr val="2D2D2D"/>
                </a:solidFill>
                <a:effectLst/>
                <a:latin typeface="Noto Sans" panose="020B0502040504020204" pitchFamily="34"/>
              </a:rPr>
              <a:t>his can be financially taxing on smaller organizations. While smaller companies can use social media to share any social responsibility policies or initiatives with customers and community members, monitoring these channels takes time and resources. It may require the company to hire extra employees to manage the process effectively, which can be challenging for small businesses.</a:t>
            </a:r>
          </a:p>
          <a:p>
            <a:pPr marL="0" indent="0" algn="l">
              <a:buNone/>
            </a:pPr>
            <a:r>
              <a:rPr lang="en-US" b="1" dirty="0">
                <a:solidFill>
                  <a:srgbClr val="2D2D2D"/>
                </a:solidFill>
                <a:latin typeface="Noto Sans" panose="020B0502040504020204" pitchFamily="34"/>
              </a:rPr>
              <a:t>2.</a:t>
            </a:r>
            <a:r>
              <a:rPr lang="en-US" dirty="0">
                <a:solidFill>
                  <a:srgbClr val="2D2D2D"/>
                </a:solidFill>
                <a:latin typeface="Noto Sans" panose="020B0502040504020204" pitchFamily="34"/>
              </a:rPr>
              <a:t> </a:t>
            </a:r>
            <a:r>
              <a:rPr lang="en-US" b="1" i="0" dirty="0">
                <a:solidFill>
                  <a:srgbClr val="2D2D2D"/>
                </a:solidFill>
                <a:effectLst/>
                <a:latin typeface="Noto Sans" panose="020B0502040504020204" pitchFamily="34"/>
              </a:rPr>
              <a:t>Impacts profitability</a:t>
            </a:r>
          </a:p>
          <a:p>
            <a:pPr algn="l"/>
            <a:r>
              <a:rPr lang="en-US" b="0" i="0" dirty="0">
                <a:solidFill>
                  <a:srgbClr val="2D2D2D"/>
                </a:solidFill>
                <a:effectLst/>
                <a:latin typeface="Noto Sans" panose="020B0502040504020204" pitchFamily="34"/>
              </a:rPr>
              <a:t>A company has a fiduciary duty to its shareholders and costly social responsibility initiatives can impact this directly. This conflict can be challenging for managers, who may feel compelled to choose between socially responsible decisions or initiatives and focusing on the company's profitability.</a:t>
            </a:r>
          </a:p>
          <a:p>
            <a:pPr marL="0" indent="0" algn="l">
              <a:buNone/>
            </a:pPr>
            <a:endParaRPr lang="en-US" b="0" i="0" dirty="0">
              <a:solidFill>
                <a:srgbClr val="2D2D2D"/>
              </a:solidFill>
              <a:effectLst/>
              <a:latin typeface="Noto Sans" panose="020B0502040504020204" pitchFamily="34"/>
            </a:endParaRPr>
          </a:p>
          <a:p>
            <a:pPr marL="0" indent="0">
              <a:buNone/>
            </a:pPr>
            <a:endParaRPr lang="en-US" b="0" i="0" dirty="0">
              <a:solidFill>
                <a:srgbClr val="2D2D2D"/>
              </a:solidFill>
              <a:effectLst/>
              <a:latin typeface="Noto Sans" panose="020B0502040504020204" pitchFamily="34"/>
            </a:endParaRPr>
          </a:p>
          <a:p>
            <a:pPr marL="0" indent="0">
              <a:buNone/>
            </a:pPr>
            <a:endParaRPr lang="en-US" dirty="0">
              <a:solidFill>
                <a:srgbClr val="2D2D2D"/>
              </a:solidFill>
              <a:latin typeface="Noto Sans" panose="020B0502040504020204" pitchFamily="34"/>
            </a:endParaRPr>
          </a:p>
        </p:txBody>
      </p:sp>
    </p:spTree>
    <p:extLst>
      <p:ext uri="{BB962C8B-B14F-4D97-AF65-F5344CB8AC3E}">
        <p14:creationId xmlns:p14="http://schemas.microsoft.com/office/powerpoint/2010/main" val="979657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A89B6-B588-4E21-C0B7-620902E02712}"/>
              </a:ext>
            </a:extLst>
          </p:cNvPr>
          <p:cNvSpPr>
            <a:spLocks noGrp="1"/>
          </p:cNvSpPr>
          <p:nvPr>
            <p:ph type="title"/>
          </p:nvPr>
        </p:nvSpPr>
        <p:spPr/>
        <p:txBody>
          <a:bodyPr/>
          <a:lstStyle/>
          <a:p>
            <a:r>
              <a:rPr lang="en-US" dirty="0"/>
              <a:t>Disadvantages of Social Responsibility</a:t>
            </a:r>
            <a:endParaRPr lang="en-PH" dirty="0"/>
          </a:p>
        </p:txBody>
      </p:sp>
      <p:sp>
        <p:nvSpPr>
          <p:cNvPr id="3" name="Content Placeholder 2">
            <a:extLst>
              <a:ext uri="{FF2B5EF4-FFF2-40B4-BE49-F238E27FC236}">
                <a16:creationId xmlns:a16="http://schemas.microsoft.com/office/drawing/2014/main" id="{84558A02-EAC7-8CC8-B974-58974D3D4638}"/>
              </a:ext>
            </a:extLst>
          </p:cNvPr>
          <p:cNvSpPr>
            <a:spLocks noGrp="1"/>
          </p:cNvSpPr>
          <p:nvPr>
            <p:ph idx="1"/>
          </p:nvPr>
        </p:nvSpPr>
        <p:spPr>
          <a:xfrm>
            <a:off x="1371600" y="1818640"/>
            <a:ext cx="9601200" cy="4048760"/>
          </a:xfrm>
        </p:spPr>
        <p:txBody>
          <a:bodyPr>
            <a:normAutofit lnSpcReduction="10000"/>
          </a:bodyPr>
          <a:lstStyle/>
          <a:p>
            <a:pPr marL="0" indent="0" algn="l">
              <a:buNone/>
            </a:pPr>
            <a:r>
              <a:rPr lang="en-US" b="1" i="0" dirty="0">
                <a:solidFill>
                  <a:srgbClr val="2D2D2D"/>
                </a:solidFill>
                <a:effectLst/>
                <a:latin typeface="Noto Sans" panose="020B0502040504020204" pitchFamily="34"/>
              </a:rPr>
              <a:t>1. Costs money to implement</a:t>
            </a:r>
          </a:p>
          <a:p>
            <a:pPr algn="l"/>
            <a:r>
              <a:rPr lang="en-US" dirty="0">
                <a:solidFill>
                  <a:srgbClr val="2D2D2D"/>
                </a:solidFill>
                <a:latin typeface="Noto Sans" panose="020B0502040504020204" pitchFamily="34"/>
              </a:rPr>
              <a:t>T</a:t>
            </a:r>
            <a:r>
              <a:rPr lang="en-US" b="0" i="0" dirty="0">
                <a:solidFill>
                  <a:srgbClr val="2D2D2D"/>
                </a:solidFill>
                <a:effectLst/>
                <a:latin typeface="Noto Sans" panose="020B0502040504020204" pitchFamily="34"/>
              </a:rPr>
              <a:t>his can be financially taxing on smaller organizations. While smaller companies can use social media to share any social responsibility policies or initiatives with customers and community members, monitoring these channels takes time and resources. It may require the company to hire extra employees to manage the process effectively, which can be challenging for small businesses.</a:t>
            </a:r>
          </a:p>
          <a:p>
            <a:pPr marL="0" indent="0" algn="l">
              <a:buNone/>
            </a:pPr>
            <a:r>
              <a:rPr lang="en-US" b="1" dirty="0">
                <a:solidFill>
                  <a:srgbClr val="2D2D2D"/>
                </a:solidFill>
                <a:latin typeface="Noto Sans" panose="020B0502040504020204" pitchFamily="34"/>
              </a:rPr>
              <a:t>2.</a:t>
            </a:r>
            <a:r>
              <a:rPr lang="en-US" dirty="0">
                <a:solidFill>
                  <a:srgbClr val="2D2D2D"/>
                </a:solidFill>
                <a:latin typeface="Noto Sans" panose="020B0502040504020204" pitchFamily="34"/>
              </a:rPr>
              <a:t> </a:t>
            </a:r>
            <a:r>
              <a:rPr lang="en-US" b="1" i="0" dirty="0">
                <a:solidFill>
                  <a:srgbClr val="2D2D2D"/>
                </a:solidFill>
                <a:effectLst/>
                <a:latin typeface="Noto Sans" panose="020B0502040504020204" pitchFamily="34"/>
              </a:rPr>
              <a:t>Impacts profitability</a:t>
            </a:r>
          </a:p>
          <a:p>
            <a:pPr algn="l"/>
            <a:r>
              <a:rPr lang="en-US" b="0" i="0" dirty="0">
                <a:solidFill>
                  <a:srgbClr val="2D2D2D"/>
                </a:solidFill>
                <a:effectLst/>
                <a:latin typeface="Noto Sans" panose="020B0502040504020204" pitchFamily="34"/>
              </a:rPr>
              <a:t>A company has a fiduciary duty to its shareholders and costly social responsibility initiatives can impact this directly. This conflict can be challenging for managers, who may feel compelled to choose between socially responsible decisions or initiatives and focusing on the company's profitability.</a:t>
            </a:r>
          </a:p>
          <a:p>
            <a:pPr marL="0" indent="0" algn="l">
              <a:buNone/>
            </a:pPr>
            <a:endParaRPr lang="en-US" b="0" i="0" dirty="0">
              <a:solidFill>
                <a:srgbClr val="2D2D2D"/>
              </a:solidFill>
              <a:effectLst/>
              <a:latin typeface="Noto Sans" panose="020B0502040504020204" pitchFamily="34"/>
            </a:endParaRPr>
          </a:p>
          <a:p>
            <a:pPr marL="0" indent="0">
              <a:buNone/>
            </a:pPr>
            <a:endParaRPr lang="en-US" b="0" i="0" dirty="0">
              <a:solidFill>
                <a:srgbClr val="2D2D2D"/>
              </a:solidFill>
              <a:effectLst/>
              <a:latin typeface="Noto Sans" panose="020B0502040504020204" pitchFamily="34"/>
            </a:endParaRPr>
          </a:p>
          <a:p>
            <a:pPr marL="0" indent="0">
              <a:buNone/>
            </a:pPr>
            <a:endParaRPr lang="en-US" dirty="0">
              <a:solidFill>
                <a:srgbClr val="2D2D2D"/>
              </a:solidFill>
              <a:latin typeface="Noto Sans" panose="020B0502040504020204" pitchFamily="34"/>
            </a:endParaRPr>
          </a:p>
        </p:txBody>
      </p:sp>
    </p:spTree>
    <p:extLst>
      <p:ext uri="{BB962C8B-B14F-4D97-AF65-F5344CB8AC3E}">
        <p14:creationId xmlns:p14="http://schemas.microsoft.com/office/powerpoint/2010/main" val="4264730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7D22E6-189C-EE87-6CC8-DB18362508FF}"/>
              </a:ext>
            </a:extLst>
          </p:cNvPr>
          <p:cNvSpPr>
            <a:spLocks noGrp="1"/>
          </p:cNvSpPr>
          <p:nvPr>
            <p:ph type="ctrTitle"/>
          </p:nvPr>
        </p:nvSpPr>
        <p:spPr>
          <a:xfrm>
            <a:off x="1915385" y="2591094"/>
            <a:ext cx="8361229" cy="2098226"/>
          </a:xfrm>
        </p:spPr>
        <p:txBody>
          <a:bodyPr/>
          <a:lstStyle/>
          <a:p>
            <a:r>
              <a:rPr lang="en-US" dirty="0"/>
              <a:t>examples OF SOCIAL RESPONSIBILITY</a:t>
            </a:r>
            <a:endParaRPr lang="en-PH" dirty="0"/>
          </a:p>
        </p:txBody>
      </p:sp>
    </p:spTree>
    <p:extLst>
      <p:ext uri="{BB962C8B-B14F-4D97-AF65-F5344CB8AC3E}">
        <p14:creationId xmlns:p14="http://schemas.microsoft.com/office/powerpoint/2010/main" val="3189172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86BDA-6242-DB60-C833-DC6F801550E8}"/>
              </a:ext>
            </a:extLst>
          </p:cNvPr>
          <p:cNvSpPr>
            <a:spLocks noGrp="1"/>
          </p:cNvSpPr>
          <p:nvPr>
            <p:ph type="title"/>
          </p:nvPr>
        </p:nvSpPr>
        <p:spPr/>
        <p:txBody>
          <a:bodyPr/>
          <a:lstStyle/>
          <a:p>
            <a:r>
              <a:rPr lang="en-US" dirty="0"/>
              <a:t>Examples:</a:t>
            </a:r>
            <a:endParaRPr lang="en-PH" dirty="0"/>
          </a:p>
        </p:txBody>
      </p:sp>
      <p:sp>
        <p:nvSpPr>
          <p:cNvPr id="3" name="Content Placeholder 2">
            <a:extLst>
              <a:ext uri="{FF2B5EF4-FFF2-40B4-BE49-F238E27FC236}">
                <a16:creationId xmlns:a16="http://schemas.microsoft.com/office/drawing/2014/main" id="{75657B55-9D8B-3566-64D8-8EC21930996F}"/>
              </a:ext>
            </a:extLst>
          </p:cNvPr>
          <p:cNvSpPr>
            <a:spLocks noGrp="1"/>
          </p:cNvSpPr>
          <p:nvPr>
            <p:ph idx="1"/>
          </p:nvPr>
        </p:nvSpPr>
        <p:spPr/>
        <p:txBody>
          <a:bodyPr/>
          <a:lstStyle/>
          <a:p>
            <a:r>
              <a:rPr lang="en-US" b="1" i="0" dirty="0">
                <a:solidFill>
                  <a:srgbClr val="2D2D2D"/>
                </a:solidFill>
                <a:effectLst/>
                <a:latin typeface="Noto Sans" panose="020B0502040504020204" pitchFamily="34"/>
              </a:rPr>
              <a:t>Charitable giving and volunteer efforts.</a:t>
            </a:r>
          </a:p>
          <a:p>
            <a:r>
              <a:rPr lang="en-US" b="1" i="0" dirty="0">
                <a:solidFill>
                  <a:srgbClr val="2D2D2D"/>
                </a:solidFill>
                <a:effectLst/>
                <a:latin typeface="Noto Sans" panose="020B0502040504020204" pitchFamily="34"/>
              </a:rPr>
              <a:t>Changes to company policies to improve or benefit the environment</a:t>
            </a:r>
            <a:endParaRPr lang="en-US" b="1" dirty="0">
              <a:solidFill>
                <a:srgbClr val="2D2D2D"/>
              </a:solidFill>
              <a:latin typeface="Noto Sans" panose="020B0502040504020204" pitchFamily="34"/>
            </a:endParaRPr>
          </a:p>
          <a:p>
            <a:r>
              <a:rPr lang="en-US" b="1" i="0" dirty="0">
                <a:solidFill>
                  <a:srgbClr val="2D2D2D"/>
                </a:solidFill>
                <a:effectLst/>
                <a:latin typeface="Noto Sans" panose="020B0502040504020204" pitchFamily="34"/>
              </a:rPr>
              <a:t>Improving labor policies and embracing fair trade</a:t>
            </a:r>
          </a:p>
          <a:p>
            <a:r>
              <a:rPr lang="en-US" b="1" i="0" dirty="0">
                <a:solidFill>
                  <a:srgbClr val="3A3A3A"/>
                </a:solidFill>
                <a:effectLst/>
                <a:latin typeface="Arial" panose="020B0604020202020204" pitchFamily="34" charset="0"/>
              </a:rPr>
              <a:t>Volunteering at Homeless Shelters and Food Banks</a:t>
            </a:r>
          </a:p>
          <a:p>
            <a:r>
              <a:rPr lang="en-US" b="1" i="0" dirty="0">
                <a:solidFill>
                  <a:srgbClr val="3A3A3A"/>
                </a:solidFill>
                <a:effectLst/>
                <a:latin typeface="Arial" panose="020B0604020202020204" pitchFamily="34" charset="0"/>
              </a:rPr>
              <a:t>Planting Trees to Combat Deforestation</a:t>
            </a:r>
          </a:p>
          <a:p>
            <a:r>
              <a:rPr lang="en-US" b="1" i="0" dirty="0">
                <a:solidFill>
                  <a:srgbClr val="3A3A3A"/>
                </a:solidFill>
                <a:effectLst/>
                <a:latin typeface="Arial" panose="020B0604020202020204" pitchFamily="34" charset="0"/>
              </a:rPr>
              <a:t>A Shoulder to Cry on</a:t>
            </a:r>
            <a:endParaRPr lang="en-US" b="1" i="0" dirty="0">
              <a:solidFill>
                <a:srgbClr val="2D2D2D"/>
              </a:solidFill>
              <a:effectLst/>
              <a:latin typeface="Noto Sans" panose="020B0502040504020204" pitchFamily="34"/>
            </a:endParaRPr>
          </a:p>
          <a:p>
            <a:endParaRPr lang="en-PH" dirty="0"/>
          </a:p>
        </p:txBody>
      </p:sp>
    </p:spTree>
    <p:extLst>
      <p:ext uri="{BB962C8B-B14F-4D97-AF65-F5344CB8AC3E}">
        <p14:creationId xmlns:p14="http://schemas.microsoft.com/office/powerpoint/2010/main" val="240081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F9AC-F94A-FB1A-1736-002BA92B91BE}"/>
              </a:ext>
            </a:extLst>
          </p:cNvPr>
          <p:cNvSpPr>
            <a:spLocks noGrp="1"/>
          </p:cNvSpPr>
          <p:nvPr>
            <p:ph type="title"/>
          </p:nvPr>
        </p:nvSpPr>
        <p:spPr/>
        <p:txBody>
          <a:bodyPr/>
          <a:lstStyle/>
          <a:p>
            <a:r>
              <a:rPr lang="en-US" dirty="0"/>
              <a:t>References:</a:t>
            </a:r>
            <a:endParaRPr lang="en-PH" dirty="0"/>
          </a:p>
        </p:txBody>
      </p:sp>
      <p:sp>
        <p:nvSpPr>
          <p:cNvPr id="3" name="Content Placeholder 2">
            <a:extLst>
              <a:ext uri="{FF2B5EF4-FFF2-40B4-BE49-F238E27FC236}">
                <a16:creationId xmlns:a16="http://schemas.microsoft.com/office/drawing/2014/main" id="{7E74F018-CA9F-F5D0-174F-3446D8CB2F3C}"/>
              </a:ext>
            </a:extLst>
          </p:cNvPr>
          <p:cNvSpPr>
            <a:spLocks noGrp="1"/>
          </p:cNvSpPr>
          <p:nvPr>
            <p:ph idx="1"/>
          </p:nvPr>
        </p:nvSpPr>
        <p:spPr/>
        <p:txBody>
          <a:bodyPr/>
          <a:lstStyle/>
          <a:p>
            <a:r>
              <a:rPr lang="en-PH" dirty="0">
                <a:hlinkClick r:id="rId2"/>
              </a:rPr>
              <a:t>https://www.indeed.com/career-advice/career-development/social-responsibility</a:t>
            </a:r>
            <a:endParaRPr lang="en-PH" dirty="0"/>
          </a:p>
          <a:p>
            <a:r>
              <a:rPr lang="en-PH" dirty="0">
                <a:hlinkClick r:id="rId3"/>
              </a:rPr>
              <a:t>https://helpfulprofessor.com/social-responsibility-norm-examples/</a:t>
            </a:r>
            <a:endParaRPr lang="en-PH" dirty="0"/>
          </a:p>
          <a:p>
            <a:r>
              <a:rPr lang="en-PH" dirty="0">
                <a:hlinkClick r:id="rId4"/>
              </a:rPr>
              <a:t>https://www.slideshare.net/deepbaazigar/social-responsibilities-of-business-76714999</a:t>
            </a:r>
            <a:endParaRPr lang="en-PH" dirty="0"/>
          </a:p>
          <a:p>
            <a:endParaRPr lang="en-PH" dirty="0"/>
          </a:p>
        </p:txBody>
      </p:sp>
    </p:spTree>
    <p:extLst>
      <p:ext uri="{BB962C8B-B14F-4D97-AF65-F5344CB8AC3E}">
        <p14:creationId xmlns:p14="http://schemas.microsoft.com/office/powerpoint/2010/main" val="260874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D50C34-3537-DBDE-2102-4FB6044050D8}"/>
              </a:ext>
            </a:extLst>
          </p:cNvPr>
          <p:cNvSpPr>
            <a:spLocks noGrp="1"/>
          </p:cNvSpPr>
          <p:nvPr>
            <p:ph type="ctrTitle"/>
          </p:nvPr>
        </p:nvSpPr>
        <p:spPr/>
        <p:txBody>
          <a:bodyPr/>
          <a:lstStyle/>
          <a:p>
            <a:r>
              <a:rPr lang="en-US" dirty="0"/>
              <a:t>THANK YOU</a:t>
            </a:r>
            <a:endParaRPr lang="en-PH" dirty="0"/>
          </a:p>
        </p:txBody>
      </p:sp>
      <p:sp>
        <p:nvSpPr>
          <p:cNvPr id="5" name="Subtitle 4">
            <a:extLst>
              <a:ext uri="{FF2B5EF4-FFF2-40B4-BE49-F238E27FC236}">
                <a16:creationId xmlns:a16="http://schemas.microsoft.com/office/drawing/2014/main" id="{E122CC65-411B-582A-CFBC-71DDBC9ADBD9}"/>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396821446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1242</Words>
  <Application>Microsoft Office PowerPoint</Application>
  <PresentationFormat>Widescreen</PresentationFormat>
  <Paragraphs>101</Paragraphs>
  <Slides>18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Franklin Gothic Book</vt:lpstr>
      <vt:lpstr>Noto Sans</vt:lpstr>
      <vt:lpstr>Wingdings</vt:lpstr>
      <vt:lpstr>Crop</vt:lpstr>
      <vt:lpstr>Social responsibility</vt:lpstr>
      <vt:lpstr>What is Social Responsibility?</vt:lpstr>
      <vt:lpstr>DIMENSIONS OF SR</vt:lpstr>
      <vt:lpstr>Philanthropic Responsibilities</vt:lpstr>
      <vt:lpstr>Ethical Responsibilities</vt:lpstr>
      <vt:lpstr>Legal Responsibilities</vt:lpstr>
      <vt:lpstr>Economic Responsibilities</vt:lpstr>
      <vt:lpstr>ADVANTAGES OF SOCIAL RESPONSIBILITY</vt:lpstr>
      <vt:lpstr>Advantages of Social Responsibility</vt:lpstr>
      <vt:lpstr>Advantages of Social Responsibility</vt:lpstr>
      <vt:lpstr>Advantages of Social Responsibility</vt:lpstr>
      <vt:lpstr>DISADVANTAGES OF SOCIAL RESPONSIBILITY</vt:lpstr>
      <vt:lpstr>Disadvantages of Social Responsibility</vt:lpstr>
      <vt:lpstr>Disadvantages of Social Responsibility</vt:lpstr>
      <vt:lpstr>examples OF SOCIAL RESPONSIBILITY</vt:lpstr>
      <vt:lpstr>Examples: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responsibility</dc:title>
  <dc:creator>Mario Dela Cruz Jr</dc:creator>
  <cp:lastModifiedBy>Mario Dela Cruz Jr</cp:lastModifiedBy>
  <cp:revision>4</cp:revision>
  <dcterms:created xsi:type="dcterms:W3CDTF">2023-07-21T08:52:38Z</dcterms:created>
  <dcterms:modified xsi:type="dcterms:W3CDTF">2023-07-24T09:49:30Z</dcterms:modified>
</cp:coreProperties>
</file>